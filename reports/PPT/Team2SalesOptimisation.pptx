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Poppins 1" panose="020B0604020202020204" charset="0"/>
      <p:regular r:id="rId17"/>
    </p:embeddedFont>
    <p:embeddedFont>
      <p:font typeface="Poppins 1 Bold" panose="020B0604020202020204" charset="0"/>
      <p:regular r:id="rId18"/>
    </p:embeddedFont>
    <p:embeddedFont>
      <p:font typeface="Poppins 2 Bold" panose="020B0604020202020204" charset="0"/>
      <p:regular r:id="rId19"/>
    </p:embeddedFont>
    <p:embeddedFont>
      <p:font typeface="Poppins 2 Semi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dhage" userId="b43be1d4498ee359" providerId="LiveId" clId="{303C8DE5-5252-47F2-B1AD-5733FECA46F5}"/>
    <pc:docChg chg="modSld">
      <pc:chgData name="om dhage" userId="b43be1d4498ee359" providerId="LiveId" clId="{303C8DE5-5252-47F2-B1AD-5733FECA46F5}" dt="2026-04-12T17:47:21.291" v="3" actId="1038"/>
      <pc:docMkLst>
        <pc:docMk/>
      </pc:docMkLst>
      <pc:sldChg chg="modSp mod">
        <pc:chgData name="om dhage" userId="b43be1d4498ee359" providerId="LiveId" clId="{303C8DE5-5252-47F2-B1AD-5733FECA46F5}" dt="2026-04-12T17:47:21.291" v="3" actId="1038"/>
        <pc:sldMkLst>
          <pc:docMk/>
          <pc:sldMk cId="0" sldId="262"/>
        </pc:sldMkLst>
        <pc:spChg chg="mod">
          <ac:chgData name="om dhage" userId="b43be1d4498ee359" providerId="LiveId" clId="{303C8DE5-5252-47F2-B1AD-5733FECA46F5}" dt="2026-04-12T17:47:21.291" v="3" actId="1038"/>
          <ac:spMkLst>
            <pc:docMk/>
            <pc:sldMk cId="0" sldId="262"/>
            <ac:spMk id="3" creationId="{00000000-0000-0000-0000-000000000000}"/>
          </ac:spMkLst>
        </pc:spChg>
        <pc:spChg chg="mod">
          <ac:chgData name="om dhage" userId="b43be1d4498ee359" providerId="LiveId" clId="{303C8DE5-5252-47F2-B1AD-5733FECA46F5}" dt="2026-04-12T17:47:21.291" v="3" actId="1038"/>
          <ac:spMkLst>
            <pc:docMk/>
            <pc:sldMk cId="0" sldId="262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459526" y="433243"/>
            <a:ext cx="8660728" cy="1098087"/>
            <a:chOff x="0" y="0"/>
            <a:chExt cx="4666826" cy="5917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66826" cy="591703"/>
            </a:xfrm>
            <a:custGeom>
              <a:avLst/>
              <a:gdLst/>
              <a:ahLst/>
              <a:cxnLst/>
              <a:rect l="l" t="t" r="r" b="b"/>
              <a:pathLst>
                <a:path w="4666826" h="591703">
                  <a:moveTo>
                    <a:pt x="203200" y="0"/>
                  </a:moveTo>
                  <a:lnTo>
                    <a:pt x="4666826" y="0"/>
                  </a:lnTo>
                  <a:lnTo>
                    <a:pt x="4463626" y="591703"/>
                  </a:lnTo>
                  <a:lnTo>
                    <a:pt x="0" y="59170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D7704">
                    <a:alpha val="100000"/>
                  </a:srgbClr>
                </a:gs>
                <a:gs pos="50000">
                  <a:srgbClr val="C42705">
                    <a:alpha val="100000"/>
                  </a:srgbClr>
                </a:gs>
                <a:gs pos="100000">
                  <a:srgbClr val="C4056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57150"/>
              <a:ext cx="4463626" cy="648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955610" y="2158224"/>
            <a:ext cx="13320066" cy="189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1"/>
              </a:lnSpc>
            </a:pPr>
            <a:r>
              <a:rPr lang="en-US" sz="12079" b="1">
                <a:gradFill>
                  <a:gsLst>
                    <a:gs pos="0">
                      <a:srgbClr val="8D7704">
                        <a:alpha val="100000"/>
                      </a:srgbClr>
                    </a:gs>
                    <a:gs pos="50000">
                      <a:srgbClr val="C42705">
                        <a:alpha val="100000"/>
                      </a:srgbClr>
                    </a:gs>
                    <a:gs pos="100000">
                      <a:srgbClr val="C4056C">
                        <a:alpha val="100000"/>
                      </a:srgbClr>
                    </a:gs>
                  </a:gsLst>
                  <a:lin ang="0"/>
                </a:gradFill>
                <a:latin typeface="Poppins 2 Bold"/>
                <a:ea typeface="Poppins 2 Bold"/>
                <a:cs typeface="Poppins 2 Bold"/>
                <a:sym typeface="Poppins 2 Bold"/>
              </a:rPr>
              <a:t>Retail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9476" y="3987531"/>
            <a:ext cx="8512333" cy="44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872" b="1">
                <a:solidFill>
                  <a:srgbClr val="000000"/>
                </a:solidFill>
                <a:latin typeface="Poppins 2 Semi-Bold"/>
                <a:ea typeface="Poppins 2 Semi-Bold"/>
                <a:cs typeface="Poppins 2 Semi-Bold"/>
                <a:sym typeface="Poppins 2 Semi-Bold"/>
              </a:rPr>
              <a:t>Retail Sales Optimization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503" y="568293"/>
            <a:ext cx="4884038" cy="764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59"/>
              </a:lnSpc>
            </a:pPr>
            <a:r>
              <a:rPr lang="en-US" sz="4921" b="1">
                <a:solidFill>
                  <a:srgbClr val="FFFFFF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Team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44260" y="5046292"/>
            <a:ext cx="4575820" cy="3145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30"/>
              </a:lnSpc>
            </a:pPr>
            <a:r>
              <a:rPr lang="en-US" sz="2521" b="1">
                <a:solidFill>
                  <a:srgbClr val="DF4234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TEAM  MEMBERS: </a:t>
            </a:r>
          </a:p>
          <a:p>
            <a:pPr marL="544478" lvl="1" indent="-272239" algn="just">
              <a:lnSpc>
                <a:spcPts val="3530"/>
              </a:lnSpc>
              <a:buFont typeface="Arial"/>
              <a:buChar char="•"/>
            </a:pPr>
            <a:r>
              <a:rPr lang="en-US" sz="2521" b="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 OM  DHAGE </a:t>
            </a:r>
          </a:p>
          <a:p>
            <a:pPr marL="544478" lvl="1" indent="-272239" algn="just">
              <a:lnSpc>
                <a:spcPts val="3530"/>
              </a:lnSpc>
              <a:buFont typeface="Arial"/>
              <a:buChar char="•"/>
            </a:pPr>
            <a:r>
              <a:rPr lang="en-US" sz="2521" b="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 VANSHIKA  KOTGIRWAR</a:t>
            </a:r>
          </a:p>
          <a:p>
            <a:pPr marL="544478" lvl="1" indent="-272239" algn="just">
              <a:lnSpc>
                <a:spcPts val="3530"/>
              </a:lnSpc>
              <a:buFont typeface="Arial"/>
              <a:buChar char="•"/>
            </a:pPr>
            <a:r>
              <a:rPr lang="en-US" sz="2521" b="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SAMPADA KHOND</a:t>
            </a:r>
          </a:p>
          <a:p>
            <a:pPr marL="544478" lvl="1" indent="-272239" algn="just">
              <a:lnSpc>
                <a:spcPts val="3530"/>
              </a:lnSpc>
              <a:buFont typeface="Arial"/>
              <a:buChar char="•"/>
            </a:pPr>
            <a:r>
              <a:rPr lang="en-US" sz="2521" b="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ARIF SHAHNAWAZ</a:t>
            </a:r>
          </a:p>
          <a:p>
            <a:pPr marL="544478" lvl="1" indent="-272239" algn="just">
              <a:lnSpc>
                <a:spcPts val="3530"/>
              </a:lnSpc>
              <a:buFont typeface="Arial"/>
              <a:buChar char="•"/>
            </a:pPr>
            <a:r>
              <a:rPr lang="en-US" sz="2521" b="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YASH BHOYAR</a:t>
            </a:r>
          </a:p>
          <a:p>
            <a:pPr marL="544478" lvl="1" indent="-272239" algn="just">
              <a:lnSpc>
                <a:spcPts val="3530"/>
              </a:lnSpc>
              <a:buFont typeface="Arial"/>
              <a:buChar char="•"/>
            </a:pPr>
            <a:r>
              <a:rPr lang="en-US" sz="2521" b="1" spc="-133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ALFIYA SHEIKH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16204" y="8737268"/>
            <a:ext cx="9198878" cy="854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358" b="1" spc="-124">
                <a:solidFill>
                  <a:srgbClr val="DF4234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Institute </a:t>
            </a:r>
            <a:r>
              <a:rPr lang="en-US" sz="2358" b="1" spc="-124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: Jhulelal Institute of Technology, Lonara, Nagpur</a:t>
            </a:r>
          </a:p>
          <a:p>
            <a:pPr algn="l">
              <a:lnSpc>
                <a:spcPts val="3301"/>
              </a:lnSpc>
            </a:pPr>
            <a:r>
              <a:rPr lang="en-US" sz="2358" b="1" spc="-124">
                <a:solidFill>
                  <a:srgbClr val="DF4234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Department </a:t>
            </a:r>
            <a:r>
              <a:rPr lang="en-US" sz="2358" b="1" spc="-124">
                <a:solidFill>
                  <a:srgbClr val="000000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: Computer Science Engineering (Third Year)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8002" y="1818252"/>
            <a:ext cx="16631298" cy="2345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006" lvl="1" indent="-290503" algn="just">
              <a:lnSpc>
                <a:spcPts val="4709"/>
              </a:lnSpc>
              <a:buFont typeface="Arial"/>
              <a:buChar char="•"/>
            </a:pPr>
            <a:r>
              <a:rPr lang="en-US" sz="2691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Objective: </a:t>
            </a: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Analyze retail sales data to identify loss-making products</a:t>
            </a:r>
          </a:p>
          <a:p>
            <a:pPr marL="581006" lvl="1" indent="-290503" algn="just">
              <a:lnSpc>
                <a:spcPts val="4709"/>
              </a:lnSpc>
              <a:buFont typeface="Arial"/>
              <a:buChar char="•"/>
            </a:pPr>
            <a:r>
              <a:rPr lang="en-US" sz="2691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Dataset: </a:t>
            </a: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Superstore Sales Dataset</a:t>
            </a:r>
          </a:p>
          <a:p>
            <a:pPr marL="581006" lvl="1" indent="-290503" algn="just">
              <a:lnSpc>
                <a:spcPts val="4709"/>
              </a:lnSpc>
              <a:buFont typeface="Arial"/>
              <a:buChar char="•"/>
            </a:pPr>
            <a:r>
              <a:rPr lang="en-US" sz="2691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Goal: </a:t>
            </a: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Improve profitability through data-driven insights</a:t>
            </a:r>
          </a:p>
          <a:p>
            <a:pPr marL="581006" lvl="1" indent="-290503" algn="just">
              <a:lnSpc>
                <a:spcPts val="4709"/>
              </a:lnSpc>
              <a:buFont typeface="Arial"/>
              <a:buChar char="•"/>
            </a:pPr>
            <a:r>
              <a:rPr lang="en-US" sz="2691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Approach: </a:t>
            </a: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Data cleaning → EDA → Insights → Recommendations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6275" y="914400"/>
            <a:ext cx="5936683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Project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8002" y="5997113"/>
            <a:ext cx="16631298" cy="1755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1006" lvl="1" indent="-290503" algn="l">
              <a:lnSpc>
                <a:spcPts val="4709"/>
              </a:lnSpc>
              <a:buFont typeface="Arial"/>
              <a:buChar char="•"/>
            </a:pP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Company has high sales but inconsistent profits</a:t>
            </a:r>
          </a:p>
          <a:p>
            <a:pPr marL="581006" lvl="1" indent="-290503" algn="l">
              <a:lnSpc>
                <a:spcPts val="4709"/>
              </a:lnSpc>
              <a:buFont typeface="Arial"/>
              <a:buChar char="•"/>
            </a:pP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Some products generate negative profit</a:t>
            </a:r>
          </a:p>
          <a:p>
            <a:pPr marL="581006" lvl="1" indent="-290503" algn="l">
              <a:lnSpc>
                <a:spcPts val="4709"/>
              </a:lnSpc>
              <a:buFont typeface="Arial"/>
              <a:buChar char="•"/>
            </a:pPr>
            <a:r>
              <a:rPr lang="en-US" sz="2691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Discounts may be affecting profitability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5227852"/>
            <a:ext cx="5936683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4850" y="8521136"/>
            <a:ext cx="16631298" cy="57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9"/>
              </a:lnSpc>
            </a:pPr>
            <a:r>
              <a:rPr lang="en-US" sz="2691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Why is the company losing money despite strong sales?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036508"/>
            <a:ext cx="15420907" cy="672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Each row = order item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Total Rows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= 9994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Key Columns: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Sales 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Discount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Quantity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Category &amp; Sub-Category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Region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47700" y="1270588"/>
            <a:ext cx="5936683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Dataset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52575" y="1533525"/>
            <a:ext cx="6352576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Tools &amp; Technologies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0093" y="2276837"/>
            <a:ext cx="7257679" cy="6164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Python (3.11)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VScode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Git/Github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Jira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Virtual Environment 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Libraries: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pandas, numpy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matplotlib, seaborn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Environment management using Conda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845393" y="1543050"/>
            <a:ext cx="15598426" cy="5233172"/>
            <a:chOff x="0" y="0"/>
            <a:chExt cx="20797901" cy="6977562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8970668" cy="913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84"/>
                </a:lnSpc>
              </a:pPr>
              <a:r>
                <a:rPr lang="en-US" sz="4499" b="1">
                  <a:solidFill>
                    <a:srgbClr val="DF4234"/>
                  </a:solidFill>
                  <a:latin typeface="Poppins 1 Bold"/>
                  <a:ea typeface="Poppins 1 Bold"/>
                  <a:cs typeface="Poppins 1 Bold"/>
                  <a:sym typeface="Poppins 1 Bold"/>
                </a:rPr>
                <a:t>Project Workflow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36691" y="1059785"/>
              <a:ext cx="20561210" cy="5917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1895" lvl="1" indent="-275948" algn="l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Data Understanding</a:t>
              </a:r>
            </a:p>
            <a:p>
              <a:pPr marL="551895" lvl="1" indent="-275948" algn="l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Data Cleaning</a:t>
              </a:r>
            </a:p>
            <a:p>
              <a:pPr marL="551895" lvl="1" indent="-275948" algn="l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Missing Values Handling</a:t>
              </a:r>
            </a:p>
            <a:p>
              <a:pPr marL="551895" lvl="1" indent="-275948" algn="l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Outlier Analysis</a:t>
              </a:r>
            </a:p>
            <a:p>
              <a:pPr marL="551895" lvl="1" indent="-275948" algn="l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Exploratory Data Analysis (EDA)</a:t>
              </a:r>
            </a:p>
            <a:p>
              <a:pPr marL="551895" lvl="1" indent="-275948" algn="l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Loss Analysis</a:t>
              </a:r>
            </a:p>
            <a:p>
              <a:pPr marL="551895" lvl="1" indent="-275948" algn="l">
                <a:lnSpc>
                  <a:spcPts val="4473"/>
                </a:lnSpc>
                <a:buFont typeface="Arial"/>
                <a:buChar char="•"/>
              </a:pPr>
              <a:r>
                <a:rPr lang="en-US" sz="2556">
                  <a:solidFill>
                    <a:srgbClr val="000000"/>
                  </a:solidFill>
                  <a:latin typeface="Poppins 1"/>
                  <a:ea typeface="Poppins 1"/>
                  <a:cs typeface="Poppins 1"/>
                  <a:sym typeface="Poppins 1"/>
                </a:rPr>
                <a:t>Insights &amp; Recommendations</a:t>
              </a:r>
            </a:p>
            <a:p>
              <a:pPr algn="l">
                <a:lnSpc>
                  <a:spcPts val="4473"/>
                </a:lnSpc>
              </a:pPr>
              <a:endPara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9127" y="680039"/>
            <a:ext cx="6352576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Data Cleaning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0512" y="1485519"/>
            <a:ext cx="7257679" cy="279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Removed duplicates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Handled missing values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Converted date columns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Verified data types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80512" y="4663570"/>
            <a:ext cx="6352576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Outlier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1896" y="5469050"/>
            <a:ext cx="7257679" cy="447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Used boxplots to detect outliers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Observed extreme values in Sales and Profit.</a:t>
            </a:r>
          </a:p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Decision: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Outliers were retained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Because they represent real business scenarios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81897" y="680039"/>
            <a:ext cx="7234330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Outlier Detection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63282" y="1485519"/>
            <a:ext cx="7257679" cy="3916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Method Used: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IQR (Interquartile Range)</a:t>
            </a:r>
          </a:p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Findings: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has many extreme values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Sales also contains outliers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Discount and Quantity have minor outliers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81897" y="5310946"/>
            <a:ext cx="8161302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Outlier Handling Strategy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2859" y="6011930"/>
            <a:ext cx="7257679" cy="3916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Approach: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Sales → Outliers capped (data noise)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→ NOT modified (business insight)</a:t>
            </a:r>
          </a:p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Reason:</a:t>
            </a:r>
          </a:p>
          <a:p>
            <a:pPr algn="l">
              <a:lnSpc>
                <a:spcPts val="4473"/>
              </a:lnSpc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outliers represent real gains/losses and are important for decision-making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40785" y="5877687"/>
            <a:ext cx="5276988" cy="4158496"/>
          </a:xfrm>
          <a:custGeom>
            <a:avLst/>
            <a:gdLst/>
            <a:ahLst/>
            <a:cxnLst/>
            <a:rect l="l" t="t" r="r" b="b"/>
            <a:pathLst>
              <a:path w="5276988" h="4158496">
                <a:moveTo>
                  <a:pt x="0" y="0"/>
                </a:moveTo>
                <a:lnTo>
                  <a:pt x="5276988" y="0"/>
                </a:lnTo>
                <a:lnTo>
                  <a:pt x="5276988" y="4158496"/>
                </a:lnTo>
                <a:lnTo>
                  <a:pt x="0" y="4158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541156">
            <a:off x="15526575" y="4881239"/>
            <a:ext cx="2306691" cy="1392665"/>
          </a:xfrm>
          <a:custGeom>
            <a:avLst/>
            <a:gdLst/>
            <a:ahLst/>
            <a:cxnLst/>
            <a:rect l="l" t="t" r="r" b="b"/>
            <a:pathLst>
              <a:path w="2306691" h="1392665">
                <a:moveTo>
                  <a:pt x="0" y="0"/>
                </a:moveTo>
                <a:lnTo>
                  <a:pt x="2306691" y="0"/>
                </a:lnTo>
                <a:lnTo>
                  <a:pt x="2306691" y="1392665"/>
                </a:lnTo>
                <a:lnTo>
                  <a:pt x="0" y="13926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281167" flipV="1">
            <a:off x="9896254" y="4994056"/>
            <a:ext cx="2306691" cy="1392665"/>
          </a:xfrm>
          <a:custGeom>
            <a:avLst/>
            <a:gdLst/>
            <a:ahLst/>
            <a:cxnLst/>
            <a:rect l="l" t="t" r="r" b="b"/>
            <a:pathLst>
              <a:path w="2306691" h="1392665">
                <a:moveTo>
                  <a:pt x="0" y="1392665"/>
                </a:moveTo>
                <a:lnTo>
                  <a:pt x="2306691" y="1392665"/>
                </a:lnTo>
                <a:lnTo>
                  <a:pt x="2306691" y="0"/>
                </a:lnTo>
                <a:lnTo>
                  <a:pt x="0" y="0"/>
                </a:lnTo>
                <a:lnTo>
                  <a:pt x="0" y="13926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530259" y="1573378"/>
            <a:ext cx="4698040" cy="4117011"/>
          </a:xfrm>
          <a:custGeom>
            <a:avLst/>
            <a:gdLst/>
            <a:ahLst/>
            <a:cxnLst/>
            <a:rect l="l" t="t" r="r" b="b"/>
            <a:pathLst>
              <a:path w="4698040" h="4117011">
                <a:moveTo>
                  <a:pt x="0" y="0"/>
                </a:moveTo>
                <a:lnTo>
                  <a:pt x="4698041" y="0"/>
                </a:lnTo>
                <a:lnTo>
                  <a:pt x="4698041" y="4117010"/>
                </a:lnTo>
                <a:lnTo>
                  <a:pt x="0" y="41170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0000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541271" y="759986"/>
            <a:ext cx="7076066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Before vs After Outliers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165740"/>
            <a:ext cx="6352576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Sales Outliers(1167)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7400" y="2222619"/>
            <a:ext cx="7257679" cy="335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Observation: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Sales distribution improved after handling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Profit distribution unchanged to preserve insights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2673" y="1959159"/>
            <a:ext cx="7839772" cy="6150166"/>
          </a:xfrm>
          <a:custGeom>
            <a:avLst/>
            <a:gdLst/>
            <a:ahLst/>
            <a:cxnLst/>
            <a:rect l="l" t="t" r="r" b="b"/>
            <a:pathLst>
              <a:path w="7839772" h="6150166">
                <a:moveTo>
                  <a:pt x="0" y="0"/>
                </a:moveTo>
                <a:lnTo>
                  <a:pt x="7839772" y="0"/>
                </a:lnTo>
                <a:lnTo>
                  <a:pt x="7839772" y="6150166"/>
                </a:lnTo>
                <a:lnTo>
                  <a:pt x="0" y="6150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380242" y="1959159"/>
            <a:ext cx="8069558" cy="6150166"/>
          </a:xfrm>
          <a:custGeom>
            <a:avLst/>
            <a:gdLst/>
            <a:ahLst/>
            <a:cxnLst/>
            <a:rect l="l" t="t" r="r" b="b"/>
            <a:pathLst>
              <a:path w="8069558" h="6150166">
                <a:moveTo>
                  <a:pt x="0" y="0"/>
                </a:moveTo>
                <a:lnTo>
                  <a:pt x="8069558" y="0"/>
                </a:lnTo>
                <a:lnTo>
                  <a:pt x="8069558" y="6150166"/>
                </a:lnTo>
                <a:lnTo>
                  <a:pt x="0" y="61501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4834" y="0"/>
            <a:ext cx="16798332" cy="10287000"/>
          </a:xfrm>
          <a:custGeom>
            <a:avLst/>
            <a:gdLst/>
            <a:ahLst/>
            <a:cxnLst/>
            <a:rect l="l" t="t" r="r" b="b"/>
            <a:pathLst>
              <a:path w="16798332" h="10287000">
                <a:moveTo>
                  <a:pt x="0" y="0"/>
                </a:moveTo>
                <a:lnTo>
                  <a:pt x="16798332" y="0"/>
                </a:lnTo>
                <a:lnTo>
                  <a:pt x="167983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1480"/>
            <a:ext cx="18288000" cy="9464040"/>
          </a:xfrm>
          <a:custGeom>
            <a:avLst/>
            <a:gdLst/>
            <a:ahLst/>
            <a:cxnLst/>
            <a:rect l="l" t="t" r="r" b="b"/>
            <a:pathLst>
              <a:path w="18288000" h="9464040">
                <a:moveTo>
                  <a:pt x="0" y="0"/>
                </a:moveTo>
                <a:lnTo>
                  <a:pt x="18288000" y="0"/>
                </a:lnTo>
                <a:lnTo>
                  <a:pt x="18288000" y="9464040"/>
                </a:lnTo>
                <a:lnTo>
                  <a:pt x="0" y="9464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1133" y="2785597"/>
            <a:ext cx="8797006" cy="6704586"/>
          </a:xfrm>
          <a:custGeom>
            <a:avLst/>
            <a:gdLst/>
            <a:ahLst/>
            <a:cxnLst/>
            <a:rect l="l" t="t" r="r" b="b"/>
            <a:pathLst>
              <a:path w="8797006" h="6704586">
                <a:moveTo>
                  <a:pt x="0" y="0"/>
                </a:moveTo>
                <a:lnTo>
                  <a:pt x="8797006" y="0"/>
                </a:lnTo>
                <a:lnTo>
                  <a:pt x="8797006" y="6704586"/>
                </a:lnTo>
                <a:lnTo>
                  <a:pt x="0" y="6704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030321" y="3817521"/>
            <a:ext cx="7257679" cy="447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Regional Insights: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South region has the lowest sales performance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Compared to:</a:t>
            </a:r>
          </a:p>
          <a:p>
            <a:pPr marL="1103791" lvl="2" indent="-367930" algn="l">
              <a:lnSpc>
                <a:spcPts val="4473"/>
              </a:lnSpc>
              <a:buFont typeface="Arial"/>
              <a:buChar char="⚬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Central</a:t>
            </a:r>
          </a:p>
          <a:p>
            <a:pPr marL="1103791" lvl="2" indent="-367930" algn="l">
              <a:lnSpc>
                <a:spcPts val="4473"/>
              </a:lnSpc>
              <a:buFont typeface="Arial"/>
              <a:buChar char="⚬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East</a:t>
            </a:r>
          </a:p>
          <a:p>
            <a:pPr marL="1103791" lvl="2" indent="-367930" algn="l">
              <a:lnSpc>
                <a:spcPts val="4473"/>
              </a:lnSpc>
              <a:buFont typeface="Arial"/>
              <a:buChar char="⚬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West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87911" y="1220148"/>
            <a:ext cx="11820456" cy="72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46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Sales Performance based on Region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019175"/>
            <a:ext cx="7596075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 Loss Analysis (Overview)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300" y="1584083"/>
            <a:ext cx="4731544" cy="398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039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Total Loss: </a:t>
            </a: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-156K</a:t>
            </a:r>
          </a:p>
          <a:p>
            <a:pPr algn="l">
              <a:lnSpc>
                <a:spcPts val="5319"/>
              </a:lnSpc>
            </a:pPr>
            <a:r>
              <a:rPr lang="en-US" sz="3039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Breakdown: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Category-wise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Sub-category-wise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Region-wise</a:t>
            </a:r>
          </a:p>
          <a:p>
            <a:pPr algn="l">
              <a:lnSpc>
                <a:spcPts val="5319"/>
              </a:lnSpc>
            </a:pPr>
            <a:endParaRPr lang="en-US" sz="3039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93300" y="5562777"/>
            <a:ext cx="7596075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Category-wise Loss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53125" y="6195888"/>
            <a:ext cx="8122907" cy="398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Furniture → highest loss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Office Supplies → second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Technology → least loss</a:t>
            </a:r>
          </a:p>
          <a:p>
            <a:pPr algn="l">
              <a:lnSpc>
                <a:spcPts val="5319"/>
              </a:lnSpc>
            </a:pPr>
            <a:r>
              <a:rPr lang="en-US" sz="3039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Furniture is the most problematic category.</a:t>
            </a:r>
          </a:p>
          <a:p>
            <a:pPr algn="l">
              <a:lnSpc>
                <a:spcPts val="5319"/>
              </a:lnSpc>
            </a:pPr>
            <a:endParaRPr lang="en-US" sz="3039" b="1">
              <a:solidFill>
                <a:srgbClr val="000000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9068" y="1019175"/>
            <a:ext cx="7596075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Sub-Category Loss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65093" y="1584083"/>
            <a:ext cx="8122907" cy="398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039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Loss-making products: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Tables → highest loss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Bookcases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Supplies</a:t>
            </a:r>
          </a:p>
          <a:p>
            <a:pPr algn="l">
              <a:lnSpc>
                <a:spcPts val="5319"/>
              </a:lnSpc>
            </a:pPr>
            <a:r>
              <a:rPr lang="en-US" sz="3039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Tables are the main loss driver.</a:t>
            </a:r>
          </a:p>
          <a:p>
            <a:pPr algn="l">
              <a:lnSpc>
                <a:spcPts val="5319"/>
              </a:lnSpc>
            </a:pPr>
            <a:endParaRPr lang="en-US" sz="3039" b="1">
              <a:solidFill>
                <a:srgbClr val="000000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9068" y="5562777"/>
            <a:ext cx="7596075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Region-wise Loss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55568" y="6253038"/>
            <a:ext cx="8122907" cy="332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Central → highest loss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East → second</a:t>
            </a:r>
          </a:p>
          <a:p>
            <a:pPr marL="656216" lvl="1" indent="-328108" algn="l">
              <a:lnSpc>
                <a:spcPts val="5319"/>
              </a:lnSpc>
              <a:buFont typeface="Arial"/>
              <a:buChar char="•"/>
            </a:pPr>
            <a:r>
              <a:rPr lang="en-US" sz="3039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South &amp; West → lower</a:t>
            </a:r>
          </a:p>
          <a:p>
            <a:pPr algn="l">
              <a:lnSpc>
                <a:spcPts val="5319"/>
              </a:lnSpc>
            </a:pPr>
            <a:r>
              <a:rPr lang="en-US" sz="3039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Central region needs improvement</a:t>
            </a:r>
          </a:p>
          <a:p>
            <a:pPr algn="l">
              <a:lnSpc>
                <a:spcPts val="5319"/>
              </a:lnSpc>
            </a:pPr>
            <a:endParaRPr lang="en-US" sz="3039" b="1">
              <a:solidFill>
                <a:srgbClr val="000000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51049" y="2244973"/>
            <a:ext cx="7542540" cy="5797053"/>
          </a:xfrm>
          <a:custGeom>
            <a:avLst/>
            <a:gdLst/>
            <a:ahLst/>
            <a:cxnLst/>
            <a:rect l="l" t="t" r="r" b="b"/>
            <a:pathLst>
              <a:path w="7542540" h="5797053">
                <a:moveTo>
                  <a:pt x="0" y="0"/>
                </a:moveTo>
                <a:lnTo>
                  <a:pt x="7542540" y="0"/>
                </a:lnTo>
                <a:lnTo>
                  <a:pt x="7542540" y="5797054"/>
                </a:lnTo>
                <a:lnTo>
                  <a:pt x="0" y="5797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67712" y="341017"/>
            <a:ext cx="6352576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Discount Impact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8766" y="2083048"/>
            <a:ext cx="4132308" cy="6395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0.10% -29.2744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0.15% -328.7030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0.20% -17258.0654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0.30% -10777.6879 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0.32% -2391.1377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0.40% -25787.8268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0.45% -2493.1111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0.50% -20506.4281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0.60% -5944.6552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0.70% -40075.3569 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0.80% -30539.0392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64620" y="3040540"/>
            <a:ext cx="5330590" cy="4625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Key Finding: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Higher discount → higher loss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Max loss occurs at 60–80% discount range</a:t>
            </a:r>
          </a:p>
          <a:p>
            <a:pPr algn="l">
              <a:lnSpc>
                <a:spcPts val="4645"/>
              </a:lnSpc>
            </a:pPr>
            <a:r>
              <a:rPr lang="en-US" sz="2654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Discounts are the main reason for losses</a:t>
            </a:r>
          </a:p>
          <a:p>
            <a:pPr algn="l">
              <a:lnSpc>
                <a:spcPts val="4645"/>
              </a:lnSpc>
            </a:pPr>
            <a:endParaRPr lang="en-US" sz="2654" b="1">
              <a:solidFill>
                <a:srgbClr val="000000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7623" y="667287"/>
            <a:ext cx="6352576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Profit Margin (KPI)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78616" y="1442557"/>
            <a:ext cx="5841583" cy="5787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Formula:</a:t>
            </a:r>
          </a:p>
          <a:p>
            <a:pPr algn="l">
              <a:lnSpc>
                <a:spcPts val="4645"/>
              </a:lnSpc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Profit Margin = Profit / Sales</a:t>
            </a:r>
          </a:p>
          <a:p>
            <a:pPr algn="l">
              <a:lnSpc>
                <a:spcPts val="4645"/>
              </a:lnSpc>
            </a:pPr>
            <a:endParaRPr lang="en-US" sz="2654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4645"/>
              </a:lnSpc>
            </a:pPr>
            <a:r>
              <a:rPr lang="en-US" sz="2654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Results: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Technology → ~24% (best)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Office Supplies → ~15%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Furniture → ~5% (worst)</a:t>
            </a:r>
          </a:p>
          <a:p>
            <a:pPr algn="l">
              <a:lnSpc>
                <a:spcPts val="4645"/>
              </a:lnSpc>
            </a:pPr>
            <a:endParaRPr lang="en-US" sz="2654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  <a:p>
            <a:pPr algn="l">
              <a:lnSpc>
                <a:spcPts val="4645"/>
              </a:lnSpc>
            </a:pPr>
            <a:r>
              <a:rPr lang="en-US" sz="2654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Furniture is inefficient despite sales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46248" y="667287"/>
            <a:ext cx="8053034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Top Performing Products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1442557"/>
            <a:ext cx="6836382" cy="404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Highest Profit Generators: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Copiers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Phones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Accessories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Paper</a:t>
            </a:r>
          </a:p>
          <a:p>
            <a:pPr algn="l">
              <a:lnSpc>
                <a:spcPts val="4645"/>
              </a:lnSpc>
            </a:pPr>
            <a:r>
              <a:rPr lang="en-US" sz="2654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These are business strengths</a:t>
            </a:r>
          </a:p>
          <a:p>
            <a:pPr algn="l">
              <a:lnSpc>
                <a:spcPts val="4645"/>
              </a:lnSpc>
            </a:pPr>
            <a:endParaRPr lang="en-US" sz="2654" b="1">
              <a:solidFill>
                <a:srgbClr val="000000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46248" y="5505601"/>
            <a:ext cx="8053034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Worst Performing Products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6214197"/>
            <a:ext cx="6836382" cy="346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2654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Loss Makers: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Tables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Bookcases</a:t>
            </a:r>
          </a:p>
          <a:p>
            <a:pPr marL="573108" lvl="1" indent="-286554" algn="l">
              <a:lnSpc>
                <a:spcPts val="4645"/>
              </a:lnSpc>
              <a:buFont typeface="Arial"/>
              <a:buChar char="•"/>
            </a:pPr>
            <a:r>
              <a:rPr lang="en-US" sz="2654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Supplies</a:t>
            </a:r>
          </a:p>
          <a:p>
            <a:pPr algn="l">
              <a:lnSpc>
                <a:spcPts val="4645"/>
              </a:lnSpc>
            </a:pPr>
            <a:r>
              <a:rPr lang="en-US" sz="2654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These require immediate action</a:t>
            </a:r>
          </a:p>
          <a:p>
            <a:pPr algn="l">
              <a:lnSpc>
                <a:spcPts val="4645"/>
              </a:lnSpc>
            </a:pPr>
            <a:endParaRPr lang="en-US" sz="2654" b="1">
              <a:solidFill>
                <a:srgbClr val="000000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8675" y="882381"/>
            <a:ext cx="10215211" cy="69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5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Key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2692" y="1637606"/>
            <a:ext cx="7257679" cy="335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High discounts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 → major cause of loss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Furniture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→ lowest profit margin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Tables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→ biggest loss contributor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Technology </a:t>
            </a: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→ most profitable category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Sales ≠ Profit</a:t>
            </a:r>
          </a:p>
          <a:p>
            <a:pPr algn="l">
              <a:lnSpc>
                <a:spcPts val="4473"/>
              </a:lnSpc>
            </a:pPr>
            <a:endParaRPr lang="en-US" sz="2556" b="1">
              <a:solidFill>
                <a:srgbClr val="000000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09842" y="5321557"/>
            <a:ext cx="8903884" cy="68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4"/>
              </a:lnSpc>
            </a:pPr>
            <a:r>
              <a:rPr lang="en-US" sz="44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Business Recommendations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1009" y="6065272"/>
            <a:ext cx="7257679" cy="447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Actions: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Reduce discounts above 20%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Re-evaluate pricing of Tables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Focus on high-margin products (Technology)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Improve performance in Central region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Avoid low-margin bulk sales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05581" y="941516"/>
            <a:ext cx="10215211" cy="72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46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29598" y="1788547"/>
            <a:ext cx="7257679" cy="335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Identified key loss drivers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Analyzed root causes (discount impact)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Suggested actionable improvements</a:t>
            </a:r>
          </a:p>
          <a:p>
            <a:pPr algn="l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Data-driven decisions can significantly improve profitability</a:t>
            </a:r>
          </a:p>
          <a:p>
            <a:pPr algn="l">
              <a:lnSpc>
                <a:spcPts val="4473"/>
              </a:lnSpc>
            </a:pPr>
            <a:endParaRPr lang="en-US" sz="2556" b="1">
              <a:solidFill>
                <a:srgbClr val="000000"/>
              </a:solidFill>
              <a:latin typeface="Poppins 1 Bold"/>
              <a:ea typeface="Poppins 1 Bold"/>
              <a:cs typeface="Poppins 1 Bold"/>
              <a:sym typeface="Poppins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29598" y="5312032"/>
            <a:ext cx="10215211" cy="72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4699" b="1">
                <a:solidFill>
                  <a:srgbClr val="DF4234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Future Scope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53616" y="6159063"/>
            <a:ext cx="7257679" cy="335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Build interactive dashboard (Streamlit / Power BI)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Apply machine learning for profit prediction</a:t>
            </a:r>
          </a:p>
          <a:p>
            <a:pPr marL="551895" lvl="1" indent="-275948" algn="l">
              <a:lnSpc>
                <a:spcPts val="4473"/>
              </a:lnSpc>
              <a:buFont typeface="Arial"/>
              <a:buChar char="•"/>
            </a:pPr>
            <a:r>
              <a:rPr lang="en-US" sz="2556">
                <a:solidFill>
                  <a:srgbClr val="000000"/>
                </a:solidFill>
                <a:latin typeface="Poppins 1"/>
                <a:ea typeface="Poppins 1"/>
                <a:cs typeface="Poppins 1"/>
                <a:sym typeface="Poppins 1"/>
              </a:rPr>
              <a:t>Customer segmentation analysis</a:t>
            </a:r>
          </a:p>
          <a:p>
            <a:pPr algn="l">
              <a:lnSpc>
                <a:spcPts val="4473"/>
              </a:lnSpc>
            </a:pPr>
            <a:endParaRPr lang="en-US" sz="2556">
              <a:solidFill>
                <a:srgbClr val="000000"/>
              </a:solidFill>
              <a:latin typeface="Poppins 1"/>
              <a:ea typeface="Poppins 1"/>
              <a:cs typeface="Poppins 1"/>
              <a:sym typeface="Poppins 1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 rot="1818284">
            <a:off x="16215886" y="4572544"/>
            <a:ext cx="3194203" cy="7569921"/>
            <a:chOff x="0" y="0"/>
            <a:chExt cx="841272" cy="19937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41272" cy="1993724"/>
            </a:xfrm>
            <a:custGeom>
              <a:avLst/>
              <a:gdLst/>
              <a:ahLst/>
              <a:cxnLst/>
              <a:rect l="l" t="t" r="r" b="b"/>
              <a:pathLst>
                <a:path w="841272" h="1993724">
                  <a:moveTo>
                    <a:pt x="0" y="0"/>
                  </a:moveTo>
                  <a:lnTo>
                    <a:pt x="841272" y="0"/>
                  </a:lnTo>
                  <a:lnTo>
                    <a:pt x="841272" y="1993724"/>
                  </a:lnTo>
                  <a:lnTo>
                    <a:pt x="0" y="1993724"/>
                  </a:lnTo>
                  <a:close/>
                </a:path>
              </a:pathLst>
            </a:custGeom>
            <a:gradFill rotWithShape="1">
              <a:gsLst>
                <a:gs pos="0">
                  <a:srgbClr val="8D7704">
                    <a:alpha val="100000"/>
                  </a:srgbClr>
                </a:gs>
                <a:gs pos="50000">
                  <a:srgbClr val="C42705">
                    <a:alpha val="100000"/>
                  </a:srgbClr>
                </a:gs>
                <a:gs pos="100000">
                  <a:srgbClr val="C4056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41272" cy="20508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26725" y="5090729"/>
            <a:ext cx="11434551" cy="92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0"/>
              </a:lnSpc>
            </a:pPr>
            <a:r>
              <a:rPr lang="en-US" sz="5878" b="1" spc="1722">
                <a:solidFill>
                  <a:srgbClr val="121212"/>
                </a:solidFill>
                <a:latin typeface="Poppins 2 Semi-Bold"/>
                <a:ea typeface="Poppins 2 Semi-Bold"/>
                <a:cs typeface="Poppins 2 Semi-Bold"/>
                <a:sym typeface="Poppins 2 Semi-Bold"/>
              </a:rPr>
              <a:t>For Your Attention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29104" y="2896012"/>
            <a:ext cx="11432171" cy="2448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3"/>
              </a:lnSpc>
            </a:pPr>
            <a:r>
              <a:rPr lang="en-US" sz="15594" b="1">
                <a:gradFill>
                  <a:gsLst>
                    <a:gs pos="0">
                      <a:srgbClr val="8D7704">
                        <a:alpha val="100000"/>
                      </a:srgbClr>
                    </a:gs>
                    <a:gs pos="50000">
                      <a:srgbClr val="C42705">
                        <a:alpha val="100000"/>
                      </a:srgbClr>
                    </a:gs>
                    <a:gs pos="100000">
                      <a:srgbClr val="C4056C">
                        <a:alpha val="100000"/>
                      </a:srgbClr>
                    </a:gs>
                  </a:gsLst>
                  <a:lin ang="2700000"/>
                </a:gradFill>
                <a:latin typeface="Poppins 2 Semi-Bold"/>
                <a:ea typeface="Poppins 2 Semi-Bold"/>
                <a:cs typeface="Poppins 2 Semi-Bold"/>
                <a:sym typeface="Poppins 2 Semi-Bold"/>
              </a:rPr>
              <a:t>Thank 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2459526" y="433243"/>
            <a:ext cx="8660728" cy="1098087"/>
            <a:chOff x="0" y="0"/>
            <a:chExt cx="4666826" cy="5917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66826" cy="591703"/>
            </a:xfrm>
            <a:custGeom>
              <a:avLst/>
              <a:gdLst/>
              <a:ahLst/>
              <a:cxnLst/>
              <a:rect l="l" t="t" r="r" b="b"/>
              <a:pathLst>
                <a:path w="4666826" h="591703">
                  <a:moveTo>
                    <a:pt x="203200" y="0"/>
                  </a:moveTo>
                  <a:lnTo>
                    <a:pt x="4666826" y="0"/>
                  </a:lnTo>
                  <a:lnTo>
                    <a:pt x="4463626" y="591703"/>
                  </a:lnTo>
                  <a:lnTo>
                    <a:pt x="0" y="591703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8D7704">
                    <a:alpha val="100000"/>
                  </a:srgbClr>
                </a:gs>
                <a:gs pos="50000">
                  <a:srgbClr val="C42705">
                    <a:alpha val="100000"/>
                  </a:srgbClr>
                </a:gs>
                <a:gs pos="100000">
                  <a:srgbClr val="C4056C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57150"/>
              <a:ext cx="4463626" cy="648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6503" y="568293"/>
            <a:ext cx="4884038" cy="764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59"/>
              </a:lnSpc>
            </a:pPr>
            <a:r>
              <a:rPr lang="en-US" sz="4921" b="1">
                <a:solidFill>
                  <a:srgbClr val="FFFFFF"/>
                </a:solidFill>
                <a:latin typeface="Poppins 2 Bold"/>
                <a:ea typeface="Poppins 2 Bold"/>
                <a:cs typeface="Poppins 2 Bold"/>
                <a:sym typeface="Poppins 2 Bold"/>
              </a:rPr>
              <a:t>Team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2057" y="6559010"/>
            <a:ext cx="14243886" cy="110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3"/>
              </a:lnSpc>
            </a:pPr>
            <a:r>
              <a:rPr lang="en-US" sz="2556" b="1">
                <a:solidFill>
                  <a:srgbClr val="000000"/>
                </a:solidFill>
                <a:latin typeface="Poppins 1 Bold"/>
                <a:ea typeface="Poppins 1 Bold"/>
                <a:cs typeface="Poppins 1 Bold"/>
                <a:sym typeface="Poppins 1 Bold"/>
              </a:rPr>
              <a:t>This project demonstrates how data analysis can identify business problems and provide actionable strategies to improve profitability.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Custom</PresentationFormat>
  <Paragraphs>175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Poppins 2 Semi-Bold</vt:lpstr>
      <vt:lpstr>Arial</vt:lpstr>
      <vt:lpstr>Poppins 2 Bold</vt:lpstr>
      <vt:lpstr>Poppins 1</vt:lpstr>
      <vt:lpstr>Poppins 1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Copy of Purple And White Modern Effective Communication Presentation</dc:title>
  <cp:lastModifiedBy>om dhage</cp:lastModifiedBy>
  <cp:revision>1</cp:revision>
  <dcterms:created xsi:type="dcterms:W3CDTF">2006-08-16T00:00:00Z</dcterms:created>
  <dcterms:modified xsi:type="dcterms:W3CDTF">2026-04-12T17:47:25Z</dcterms:modified>
  <dc:identifier>DAHFoebm8vc</dc:identifier>
</cp:coreProperties>
</file>