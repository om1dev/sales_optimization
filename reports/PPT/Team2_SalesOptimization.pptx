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2 Bold" charset="1" panose="00000800000000000000"/>
      <p:regular r:id="rId21"/>
    </p:embeddedFont>
    <p:embeddedFont>
      <p:font typeface="Poppins 2 Semi-Bold" charset="1" panose="00000700000000000000"/>
      <p:regular r:id="rId22"/>
    </p:embeddedFont>
    <p:embeddedFont>
      <p:font typeface="Poppins 1 Bold" charset="1" panose="00000800000000000000"/>
      <p:regular r:id="rId23"/>
    </p:embeddedFont>
    <p:embeddedFont>
      <p:font typeface="Poppins 1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59526" y="433243"/>
            <a:ext cx="8660728" cy="1098087"/>
            <a:chOff x="0" y="0"/>
            <a:chExt cx="4666826" cy="5917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66826" cy="591703"/>
            </a:xfrm>
            <a:custGeom>
              <a:avLst/>
              <a:gdLst/>
              <a:ahLst/>
              <a:cxnLst/>
              <a:rect r="r" b="b" t="t" l="l"/>
              <a:pathLst>
                <a:path h="591703" w="4666826">
                  <a:moveTo>
                    <a:pt x="203200" y="0"/>
                  </a:moveTo>
                  <a:lnTo>
                    <a:pt x="4666826" y="0"/>
                  </a:lnTo>
                  <a:lnTo>
                    <a:pt x="4463626" y="591703"/>
                  </a:lnTo>
                  <a:lnTo>
                    <a:pt x="0" y="59170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8D7704">
                    <a:alpha val="100000"/>
                  </a:srgbClr>
                </a:gs>
                <a:gs pos="50000">
                  <a:srgbClr val="C42705">
                    <a:alpha val="100000"/>
                  </a:srgbClr>
                </a:gs>
                <a:gs pos="100000">
                  <a:srgbClr val="C4056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57150"/>
              <a:ext cx="4463626" cy="648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55610" y="2158224"/>
            <a:ext cx="13320066" cy="1895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91"/>
              </a:lnSpc>
            </a:pPr>
            <a:r>
              <a:rPr lang="en-US" b="true" sz="12079">
                <a:gradFill>
                  <a:gsLst>
                    <a:gs pos="0">
                      <a:srgbClr val="8D7704">
                        <a:alpha val="100000"/>
                      </a:srgbClr>
                    </a:gs>
                    <a:gs pos="50000">
                      <a:srgbClr val="C42705">
                        <a:alpha val="100000"/>
                      </a:srgbClr>
                    </a:gs>
                    <a:gs pos="100000">
                      <a:srgbClr val="C4056C">
                        <a:alpha val="100000"/>
                      </a:srgbClr>
                    </a:gs>
                  </a:gsLst>
                  <a:lin ang="0"/>
                </a:gradFill>
                <a:latin typeface="Poppins 2 Bold"/>
                <a:ea typeface="Poppins 2 Bold"/>
                <a:cs typeface="Poppins 2 Bold"/>
                <a:sym typeface="Poppins 2 Bold"/>
              </a:rPr>
              <a:t>Retail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59476" y="3987531"/>
            <a:ext cx="8512333" cy="446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2872" b="true">
                <a:solidFill>
                  <a:srgbClr val="000000"/>
                </a:solidFill>
                <a:latin typeface="Poppins 2 Semi-Bold"/>
                <a:ea typeface="Poppins 2 Semi-Bold"/>
                <a:cs typeface="Poppins 2 Semi-Bold"/>
                <a:sym typeface="Poppins 2 Semi-Bold"/>
              </a:rPr>
              <a:t>Retail Sales Optimization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6503" y="568293"/>
            <a:ext cx="4884038" cy="76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59"/>
              </a:lnSpc>
            </a:pPr>
            <a:r>
              <a:rPr lang="en-US" b="true" sz="4921">
                <a:solidFill>
                  <a:srgbClr val="FFFFFF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Team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44260" y="5046292"/>
            <a:ext cx="4575820" cy="314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0"/>
              </a:lnSpc>
            </a:pPr>
            <a:r>
              <a:rPr lang="en-US" b="true" sz="2521">
                <a:solidFill>
                  <a:srgbClr val="DF4234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TEAM  MEMBERS: </a:t>
            </a:r>
          </a:p>
          <a:p>
            <a:pPr algn="just" marL="544478" indent="-272239" lvl="1">
              <a:lnSpc>
                <a:spcPts val="3530"/>
              </a:lnSpc>
              <a:buFont typeface="Arial"/>
              <a:buChar char="•"/>
            </a:pPr>
            <a:r>
              <a:rPr lang="en-US" b="true" sz="2521" spc="-133">
                <a:solidFill>
                  <a:srgbClr val="000000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 OM  DHAGE </a:t>
            </a:r>
          </a:p>
          <a:p>
            <a:pPr algn="just" marL="544478" indent="-272239" lvl="1">
              <a:lnSpc>
                <a:spcPts val="3530"/>
              </a:lnSpc>
              <a:buFont typeface="Arial"/>
              <a:buChar char="•"/>
            </a:pPr>
            <a:r>
              <a:rPr lang="en-US" b="true" sz="2521" spc="-133">
                <a:solidFill>
                  <a:srgbClr val="000000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 VANSHIKA  KOTAGIRWAR</a:t>
            </a:r>
          </a:p>
          <a:p>
            <a:pPr algn="just" marL="544478" indent="-272239" lvl="1">
              <a:lnSpc>
                <a:spcPts val="3530"/>
              </a:lnSpc>
              <a:buFont typeface="Arial"/>
              <a:buChar char="•"/>
            </a:pPr>
            <a:r>
              <a:rPr lang="en-US" b="true" sz="2521" spc="-133">
                <a:solidFill>
                  <a:srgbClr val="000000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SAMPADA KHOND</a:t>
            </a:r>
          </a:p>
          <a:p>
            <a:pPr algn="just" marL="544478" indent="-272239" lvl="1">
              <a:lnSpc>
                <a:spcPts val="3530"/>
              </a:lnSpc>
              <a:buFont typeface="Arial"/>
              <a:buChar char="•"/>
            </a:pPr>
            <a:r>
              <a:rPr lang="en-US" b="true" sz="2521" spc="-133">
                <a:solidFill>
                  <a:srgbClr val="000000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ARIF SHAHNAWAZ</a:t>
            </a:r>
          </a:p>
          <a:p>
            <a:pPr algn="just" marL="544478" indent="-272239" lvl="1">
              <a:lnSpc>
                <a:spcPts val="3530"/>
              </a:lnSpc>
              <a:buFont typeface="Arial"/>
              <a:buChar char="•"/>
            </a:pPr>
            <a:r>
              <a:rPr lang="en-US" b="true" sz="2521" spc="-133">
                <a:solidFill>
                  <a:srgbClr val="000000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YASH BHOYAR</a:t>
            </a:r>
          </a:p>
          <a:p>
            <a:pPr algn="just" marL="544478" indent="-272239" lvl="1">
              <a:lnSpc>
                <a:spcPts val="3530"/>
              </a:lnSpc>
              <a:buFont typeface="Arial"/>
              <a:buChar char="•"/>
            </a:pPr>
            <a:r>
              <a:rPr lang="en-US" b="true" sz="2521" spc="-133">
                <a:solidFill>
                  <a:srgbClr val="000000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ALFIYA SHEIKH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16204" y="8737268"/>
            <a:ext cx="9198878" cy="854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358" spc="-124" b="true">
                <a:solidFill>
                  <a:srgbClr val="DF4234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Institute </a:t>
            </a:r>
            <a:r>
              <a:rPr lang="en-US" sz="2358" spc="-124" b="true">
                <a:solidFill>
                  <a:srgbClr val="000000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: Jhulelal Institute of Technology, Lonara, Nagpur</a:t>
            </a:r>
          </a:p>
          <a:p>
            <a:pPr algn="l">
              <a:lnSpc>
                <a:spcPts val="3301"/>
              </a:lnSpc>
            </a:pPr>
            <a:r>
              <a:rPr lang="en-US" sz="2358" spc="-124" b="true">
                <a:solidFill>
                  <a:srgbClr val="DF4234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Department </a:t>
            </a:r>
            <a:r>
              <a:rPr lang="en-US" sz="2358" spc="-124" b="true">
                <a:solidFill>
                  <a:srgbClr val="000000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: Computer Science Engineering (Third Year)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8002" y="1818252"/>
            <a:ext cx="16631298" cy="234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1006" indent="-290503" lvl="1">
              <a:lnSpc>
                <a:spcPts val="4709"/>
              </a:lnSpc>
              <a:buFont typeface="Arial"/>
              <a:buChar char="•"/>
            </a:pPr>
            <a:r>
              <a:rPr lang="en-US" b="true" sz="269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Objective: </a:t>
            </a:r>
            <a:r>
              <a:rPr lang="en-US" sz="2691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Anal</a:t>
            </a:r>
            <a:r>
              <a:rPr lang="en-US" sz="2691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yze retail sales data to identify loss-making products</a:t>
            </a:r>
          </a:p>
          <a:p>
            <a:pPr algn="just" marL="581006" indent="-290503" lvl="1">
              <a:lnSpc>
                <a:spcPts val="4709"/>
              </a:lnSpc>
              <a:buFont typeface="Arial"/>
              <a:buChar char="•"/>
            </a:pPr>
            <a:r>
              <a:rPr lang="en-US" b="true" sz="269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Dataset: </a:t>
            </a:r>
            <a:r>
              <a:rPr lang="en-US" sz="2691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Superstore Sales Dataset</a:t>
            </a:r>
          </a:p>
          <a:p>
            <a:pPr algn="just" marL="581006" indent="-290503" lvl="1">
              <a:lnSpc>
                <a:spcPts val="4709"/>
              </a:lnSpc>
              <a:buFont typeface="Arial"/>
              <a:buChar char="•"/>
            </a:pPr>
            <a:r>
              <a:rPr lang="en-US" b="true" sz="269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Goal: </a:t>
            </a:r>
            <a:r>
              <a:rPr lang="en-US" sz="2691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Improve profitability through data-driven insights</a:t>
            </a:r>
          </a:p>
          <a:p>
            <a:pPr algn="just" marL="581006" indent="-290503" lvl="1">
              <a:lnSpc>
                <a:spcPts val="4709"/>
              </a:lnSpc>
              <a:buFont typeface="Arial"/>
              <a:buChar char="•"/>
            </a:pPr>
            <a:r>
              <a:rPr lang="en-US" b="true" sz="269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Approach: </a:t>
            </a:r>
            <a:r>
              <a:rPr lang="en-US" sz="2691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Data cleaning → EDA → Insights → Recommendations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6275" y="914400"/>
            <a:ext cx="5936683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Project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8002" y="5997113"/>
            <a:ext cx="16631298" cy="1755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1006" indent="-290503" lvl="1">
              <a:lnSpc>
                <a:spcPts val="4709"/>
              </a:lnSpc>
              <a:buFont typeface="Arial"/>
              <a:buChar char="•"/>
            </a:pPr>
            <a:r>
              <a:rPr lang="en-US" sz="2691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Company has high sales but inconsistent profits</a:t>
            </a:r>
          </a:p>
          <a:p>
            <a:pPr algn="l" marL="581006" indent="-290503" lvl="1">
              <a:lnSpc>
                <a:spcPts val="4709"/>
              </a:lnSpc>
              <a:buFont typeface="Arial"/>
              <a:buChar char="•"/>
            </a:pPr>
            <a:r>
              <a:rPr lang="en-US" sz="2691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Some products generate negative profit</a:t>
            </a:r>
          </a:p>
          <a:p>
            <a:pPr algn="l" marL="581006" indent="-290503" lvl="1">
              <a:lnSpc>
                <a:spcPts val="4709"/>
              </a:lnSpc>
              <a:buFont typeface="Arial"/>
              <a:buChar char="•"/>
            </a:pPr>
            <a:r>
              <a:rPr lang="en-US" sz="2691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Discounts may be affecting profitability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7700" y="5227852"/>
            <a:ext cx="5936683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4850" y="8521136"/>
            <a:ext cx="16631298" cy="57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9"/>
              </a:lnSpc>
            </a:pPr>
            <a:r>
              <a:rPr lang="en-US" b="true" sz="269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Why is the company losing money despite strong sales?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36508"/>
            <a:ext cx="15420907" cy="6726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Each row = order item</a:t>
            </a:r>
          </a:p>
          <a:p>
            <a:pPr algn="l">
              <a:lnSpc>
                <a:spcPts val="4473"/>
              </a:lnSpc>
            </a:pPr>
          </a:p>
          <a:p>
            <a:pPr algn="l">
              <a:lnSpc>
                <a:spcPts val="4473"/>
              </a:lnSpc>
            </a:pPr>
            <a:r>
              <a:rPr lang="en-US" sz="2556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Total Rows 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= 9994</a:t>
            </a:r>
          </a:p>
          <a:p>
            <a:pPr algn="l">
              <a:lnSpc>
                <a:spcPts val="4473"/>
              </a:lnSpc>
            </a:pPr>
          </a:p>
          <a:p>
            <a:pPr algn="l">
              <a:lnSpc>
                <a:spcPts val="4473"/>
              </a:lnSpc>
            </a:pPr>
            <a:r>
              <a:rPr lang="en-US" sz="2556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Key Columns: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Sales 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Profit 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Discount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Quantity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Category &amp; Sub-Category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Region</a:t>
            </a:r>
          </a:p>
          <a:p>
            <a:pPr algn="l">
              <a:lnSpc>
                <a:spcPts val="447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47700" y="1270588"/>
            <a:ext cx="5936683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Datas</a:t>
            </a: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et Description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2575" y="1533525"/>
            <a:ext cx="6352576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Tools &amp;</a:t>
            </a: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Technologies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0093" y="2276837"/>
            <a:ext cx="7257679" cy="616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Python (3.11)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VScode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Git/Github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Jira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Virtual Environment </a:t>
            </a:r>
          </a:p>
          <a:p>
            <a:pPr algn="l">
              <a:lnSpc>
                <a:spcPts val="4473"/>
              </a:lnSpc>
            </a:pPr>
          </a:p>
          <a:p>
            <a:pPr algn="l">
              <a:lnSpc>
                <a:spcPts val="4473"/>
              </a:lnSpc>
            </a:pPr>
            <a:r>
              <a:rPr lang="en-US" sz="2556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Libraries: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pandas, numpy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matpl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otl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ib,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 se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ab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o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n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Envi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ronment management using Conda</a:t>
            </a:r>
          </a:p>
          <a:p>
            <a:pPr algn="l">
              <a:lnSpc>
                <a:spcPts val="4473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9845393" y="1543050"/>
            <a:ext cx="15598426" cy="5233172"/>
            <a:chOff x="0" y="0"/>
            <a:chExt cx="20797901" cy="697756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8970668" cy="913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84"/>
                </a:lnSpc>
              </a:pPr>
              <a:r>
                <a:rPr lang="en-US" sz="4499" b="true">
                  <a:solidFill>
                    <a:srgbClr val="DF4234"/>
                  </a:solidFill>
                  <a:latin typeface="Poppins 1 Bold"/>
                  <a:ea typeface="Poppins 1 Bold"/>
                  <a:cs typeface="Poppins 1 Bold"/>
                  <a:sym typeface="Poppins 1 Bold"/>
                </a:rPr>
                <a:t>Proj</a:t>
              </a:r>
              <a:r>
                <a:rPr lang="en-US" sz="4499" b="true">
                  <a:solidFill>
                    <a:srgbClr val="DF4234"/>
                  </a:solidFill>
                  <a:latin typeface="Poppins 1 Bold"/>
                  <a:ea typeface="Poppins 1 Bold"/>
                  <a:cs typeface="Poppins 1 Bold"/>
                  <a:sym typeface="Poppins 1 Bold"/>
                </a:rPr>
                <a:t>ect Workflow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36691" y="1059785"/>
              <a:ext cx="20561210" cy="59177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51895" indent="-275948" lvl="1">
                <a:lnSpc>
                  <a:spcPts val="4473"/>
                </a:lnSpc>
                <a:buFont typeface="Arial"/>
                <a:buChar char="•"/>
              </a:pP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Data Understanding</a:t>
              </a:r>
            </a:p>
            <a:p>
              <a:pPr algn="l" marL="551895" indent="-275948" lvl="1">
                <a:lnSpc>
                  <a:spcPts val="4473"/>
                </a:lnSpc>
                <a:buFont typeface="Arial"/>
                <a:buChar char="•"/>
              </a:pP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D</a:t>
              </a: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ata Cl</a:t>
              </a: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e</a:t>
              </a: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a</a:t>
              </a: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ning</a:t>
              </a:r>
            </a:p>
            <a:p>
              <a:pPr algn="l" marL="551895" indent="-275948" lvl="1">
                <a:lnSpc>
                  <a:spcPts val="4473"/>
                </a:lnSpc>
                <a:buFont typeface="Arial"/>
                <a:buChar char="•"/>
              </a:pP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Mi</a:t>
              </a: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ssing Values Handling</a:t>
              </a:r>
            </a:p>
            <a:p>
              <a:pPr algn="l" marL="551895" indent="-275948" lvl="1">
                <a:lnSpc>
                  <a:spcPts val="4473"/>
                </a:lnSpc>
                <a:buFont typeface="Arial"/>
                <a:buChar char="•"/>
              </a:pP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Outlier Analysis</a:t>
              </a:r>
            </a:p>
            <a:p>
              <a:pPr algn="l" marL="551895" indent="-275948" lvl="1">
                <a:lnSpc>
                  <a:spcPts val="4473"/>
                </a:lnSpc>
                <a:buFont typeface="Arial"/>
                <a:buChar char="•"/>
              </a:pP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Expl</a:t>
              </a: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oratory Data Analysis (EDA)</a:t>
              </a:r>
            </a:p>
            <a:p>
              <a:pPr algn="l" marL="551895" indent="-275948" lvl="1">
                <a:lnSpc>
                  <a:spcPts val="4473"/>
                </a:lnSpc>
                <a:buFont typeface="Arial"/>
                <a:buChar char="•"/>
              </a:pP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Loss Analysis</a:t>
              </a:r>
            </a:p>
            <a:p>
              <a:pPr algn="l" marL="551895" indent="-275948" lvl="1">
                <a:lnSpc>
                  <a:spcPts val="4473"/>
                </a:lnSpc>
                <a:buFont typeface="Arial"/>
                <a:buChar char="•"/>
              </a:pP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Insights &amp; Recommendations</a:t>
              </a:r>
            </a:p>
            <a:p>
              <a:pPr algn="l">
                <a:lnSpc>
                  <a:spcPts val="4473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9127" y="680039"/>
            <a:ext cx="6352576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Data</a:t>
            </a: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Cleaning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0512" y="1485519"/>
            <a:ext cx="7257679" cy="2793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Removed 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duplicates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Handled missing v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lu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es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Converted date c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olumns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Ve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ifi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ed data types</a:t>
            </a:r>
          </a:p>
          <a:p>
            <a:pPr algn="l">
              <a:lnSpc>
                <a:spcPts val="447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80512" y="4663570"/>
            <a:ext cx="6352576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Out</a:t>
            </a: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lier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1896" y="5469050"/>
            <a:ext cx="7257679" cy="4478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Used box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plots to detect o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utli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ers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Obs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erved extreme va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lues 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in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 Sales and Profit.</a:t>
            </a:r>
          </a:p>
          <a:p>
            <a:pPr algn="l">
              <a:lnSpc>
                <a:spcPts val="4473"/>
              </a:lnSpc>
            </a:pPr>
            <a:r>
              <a:rPr lang="en-US" sz="2556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Decision: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Outliers were retained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Because they represent real business scenarios</a:t>
            </a:r>
          </a:p>
          <a:p>
            <a:pPr algn="l">
              <a:lnSpc>
                <a:spcPts val="447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981897" y="680039"/>
            <a:ext cx="7234330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Outlier Detection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63282" y="1485519"/>
            <a:ext cx="7257679" cy="3916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2556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Method Use</a:t>
            </a:r>
            <a:r>
              <a:rPr lang="en-US" sz="2556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d: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 IQR (Interquartile Range)</a:t>
            </a:r>
          </a:p>
          <a:p>
            <a:pPr algn="l">
              <a:lnSpc>
                <a:spcPts val="4473"/>
              </a:lnSpc>
            </a:pPr>
            <a:r>
              <a:rPr lang="en-US" sz="2556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Findings: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Profit has many extreme v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lu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es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Sal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es also c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ontains outlie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rs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D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iscount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 and Quantity have minor outliers</a:t>
            </a:r>
          </a:p>
          <a:p>
            <a:pPr algn="l">
              <a:lnSpc>
                <a:spcPts val="447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981897" y="5310946"/>
            <a:ext cx="8161302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Outlier Handling Strategy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22859" y="6011930"/>
            <a:ext cx="7257679" cy="3916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2556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Approach: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Sal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es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 → Outliers capped (data noise)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Profit → NOT modified (b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usiness insight)</a:t>
            </a:r>
          </a:p>
          <a:p>
            <a:pPr algn="l">
              <a:lnSpc>
                <a:spcPts val="4473"/>
              </a:lnSpc>
            </a:pPr>
            <a:r>
              <a:rPr lang="en-US" sz="2556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Reason:</a:t>
            </a:r>
          </a:p>
          <a:p>
            <a:pPr algn="l">
              <a:lnSpc>
                <a:spcPts val="4473"/>
              </a:lnSpc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Profit outliers repre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sent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 real gains/losses and are important for decision-making</a:t>
            </a:r>
          </a:p>
          <a:p>
            <a:pPr algn="l">
              <a:lnSpc>
                <a:spcPts val="447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27740" y="1564478"/>
            <a:ext cx="5276988" cy="4013094"/>
          </a:xfrm>
          <a:custGeom>
            <a:avLst/>
            <a:gdLst/>
            <a:ahLst/>
            <a:cxnLst/>
            <a:rect r="r" b="b" t="t" l="l"/>
            <a:pathLst>
              <a:path h="4013094" w="5276988">
                <a:moveTo>
                  <a:pt x="0" y="0"/>
                </a:moveTo>
                <a:lnTo>
                  <a:pt x="5276988" y="0"/>
                </a:lnTo>
                <a:lnTo>
                  <a:pt x="5276988" y="4013094"/>
                </a:lnTo>
                <a:lnTo>
                  <a:pt x="0" y="40130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27740" y="5970111"/>
            <a:ext cx="5276988" cy="4158496"/>
          </a:xfrm>
          <a:custGeom>
            <a:avLst/>
            <a:gdLst/>
            <a:ahLst/>
            <a:cxnLst/>
            <a:rect r="r" b="b" t="t" l="l"/>
            <a:pathLst>
              <a:path h="4158496" w="5276988">
                <a:moveTo>
                  <a:pt x="0" y="0"/>
                </a:moveTo>
                <a:lnTo>
                  <a:pt x="5276988" y="0"/>
                </a:lnTo>
                <a:lnTo>
                  <a:pt x="5276988" y="4158496"/>
                </a:lnTo>
                <a:lnTo>
                  <a:pt x="0" y="41584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541156">
            <a:off x="15526575" y="4881239"/>
            <a:ext cx="2306691" cy="1392665"/>
          </a:xfrm>
          <a:custGeom>
            <a:avLst/>
            <a:gdLst/>
            <a:ahLst/>
            <a:cxnLst/>
            <a:rect r="r" b="b" t="t" l="l"/>
            <a:pathLst>
              <a:path h="1392665" w="2306691">
                <a:moveTo>
                  <a:pt x="0" y="0"/>
                </a:moveTo>
                <a:lnTo>
                  <a:pt x="2306691" y="0"/>
                </a:lnTo>
                <a:lnTo>
                  <a:pt x="2306691" y="1392665"/>
                </a:lnTo>
                <a:lnTo>
                  <a:pt x="0" y="13926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906724" y="826661"/>
            <a:ext cx="7076066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Before vs After Outliers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4281167">
            <a:off x="9648604" y="4994056"/>
            <a:ext cx="2306691" cy="1392665"/>
          </a:xfrm>
          <a:custGeom>
            <a:avLst/>
            <a:gdLst/>
            <a:ahLst/>
            <a:cxnLst/>
            <a:rect r="r" b="b" t="t" l="l"/>
            <a:pathLst>
              <a:path h="1392665" w="2306691">
                <a:moveTo>
                  <a:pt x="0" y="1392665"/>
                </a:moveTo>
                <a:lnTo>
                  <a:pt x="2306691" y="1392665"/>
                </a:lnTo>
                <a:lnTo>
                  <a:pt x="2306691" y="0"/>
                </a:lnTo>
                <a:lnTo>
                  <a:pt x="0" y="0"/>
                </a:lnTo>
                <a:lnTo>
                  <a:pt x="0" y="139266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165740"/>
            <a:ext cx="6352576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Sales Outliers(1167)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7400" y="2222619"/>
            <a:ext cx="7257679" cy="335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2556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Observation: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Sa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les distrib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ution improved after hand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l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ing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Profit d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is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tr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bution unchanged to preserve insights</a:t>
            </a:r>
          </a:p>
          <a:p>
            <a:pPr algn="l">
              <a:lnSpc>
                <a:spcPts val="4473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2173" y="1959159"/>
            <a:ext cx="7839772" cy="6150166"/>
          </a:xfrm>
          <a:custGeom>
            <a:avLst/>
            <a:gdLst/>
            <a:ahLst/>
            <a:cxnLst/>
            <a:rect r="r" b="b" t="t" l="l"/>
            <a:pathLst>
              <a:path h="6150166" w="7839772">
                <a:moveTo>
                  <a:pt x="0" y="0"/>
                </a:moveTo>
                <a:lnTo>
                  <a:pt x="7839772" y="0"/>
                </a:lnTo>
                <a:lnTo>
                  <a:pt x="7839772" y="6150166"/>
                </a:lnTo>
                <a:lnTo>
                  <a:pt x="0" y="6150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89742" y="1959159"/>
            <a:ext cx="8069558" cy="6150166"/>
          </a:xfrm>
          <a:custGeom>
            <a:avLst/>
            <a:gdLst/>
            <a:ahLst/>
            <a:cxnLst/>
            <a:rect r="r" b="b" t="t" l="l"/>
            <a:pathLst>
              <a:path h="6150166" w="8069558">
                <a:moveTo>
                  <a:pt x="0" y="0"/>
                </a:moveTo>
                <a:lnTo>
                  <a:pt x="8069558" y="0"/>
                </a:lnTo>
                <a:lnTo>
                  <a:pt x="8069558" y="6150166"/>
                </a:lnTo>
                <a:lnTo>
                  <a:pt x="0" y="61501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4834" y="0"/>
            <a:ext cx="16798332" cy="10287000"/>
          </a:xfrm>
          <a:custGeom>
            <a:avLst/>
            <a:gdLst/>
            <a:ahLst/>
            <a:cxnLst/>
            <a:rect r="r" b="b" t="t" l="l"/>
            <a:pathLst>
              <a:path h="10287000" w="16798332">
                <a:moveTo>
                  <a:pt x="0" y="0"/>
                </a:moveTo>
                <a:lnTo>
                  <a:pt x="16798332" y="0"/>
                </a:lnTo>
                <a:lnTo>
                  <a:pt x="167983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11480"/>
            <a:ext cx="18288000" cy="9464040"/>
          </a:xfrm>
          <a:custGeom>
            <a:avLst/>
            <a:gdLst/>
            <a:ahLst/>
            <a:cxnLst/>
            <a:rect r="r" b="b" t="t" l="l"/>
            <a:pathLst>
              <a:path h="9464040" w="18288000">
                <a:moveTo>
                  <a:pt x="0" y="0"/>
                </a:moveTo>
                <a:lnTo>
                  <a:pt x="18288000" y="0"/>
                </a:lnTo>
                <a:lnTo>
                  <a:pt x="18288000" y="9464040"/>
                </a:lnTo>
                <a:lnTo>
                  <a:pt x="0" y="946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1133" y="2785597"/>
            <a:ext cx="8797006" cy="6704586"/>
          </a:xfrm>
          <a:custGeom>
            <a:avLst/>
            <a:gdLst/>
            <a:ahLst/>
            <a:cxnLst/>
            <a:rect r="r" b="b" t="t" l="l"/>
            <a:pathLst>
              <a:path h="6704586" w="8797006">
                <a:moveTo>
                  <a:pt x="0" y="0"/>
                </a:moveTo>
                <a:lnTo>
                  <a:pt x="8797006" y="0"/>
                </a:lnTo>
                <a:lnTo>
                  <a:pt x="8797006" y="6704586"/>
                </a:lnTo>
                <a:lnTo>
                  <a:pt x="0" y="6704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030321" y="3817521"/>
            <a:ext cx="7257679" cy="4478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2556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Region</a:t>
            </a:r>
            <a:r>
              <a:rPr lang="en-US" sz="2556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al Insights: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outh region has the lowest sales performance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Compared to:</a:t>
            </a:r>
          </a:p>
          <a:p>
            <a:pPr algn="l" marL="1103791" indent="-367930" lvl="2">
              <a:lnSpc>
                <a:spcPts val="4473"/>
              </a:lnSpc>
              <a:buFont typeface="Arial"/>
              <a:buChar char="⚬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entral</a:t>
            </a:r>
          </a:p>
          <a:p>
            <a:pPr algn="l" marL="1103791" indent="-367930" lvl="2">
              <a:lnSpc>
                <a:spcPts val="4473"/>
              </a:lnSpc>
              <a:buFont typeface="Arial"/>
              <a:buChar char="⚬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East</a:t>
            </a:r>
          </a:p>
          <a:p>
            <a:pPr algn="l" marL="1103791" indent="-367930" lvl="2">
              <a:lnSpc>
                <a:spcPts val="4473"/>
              </a:lnSpc>
              <a:buFont typeface="Arial"/>
              <a:buChar char="⚬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West</a:t>
            </a:r>
          </a:p>
          <a:p>
            <a:pPr algn="l">
              <a:lnSpc>
                <a:spcPts val="447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887911" y="1220148"/>
            <a:ext cx="11820456" cy="727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0"/>
              </a:lnSpc>
            </a:pPr>
            <a:r>
              <a:rPr lang="en-US" sz="46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Sales Performance based on Region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19175"/>
            <a:ext cx="7596075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Loss Analysis (Overview)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3300" y="1584083"/>
            <a:ext cx="4731544" cy="398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039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Total Loss: </a:t>
            </a: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-156K</a:t>
            </a:r>
          </a:p>
          <a:p>
            <a:pPr algn="l">
              <a:lnSpc>
                <a:spcPts val="5319"/>
              </a:lnSpc>
            </a:pPr>
            <a:r>
              <a:rPr lang="en-US" sz="3039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Breakdown:</a:t>
            </a:r>
          </a:p>
          <a:p>
            <a:pPr algn="l" marL="656216" indent="-328108" lvl="1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Category-wise</a:t>
            </a:r>
          </a:p>
          <a:p>
            <a:pPr algn="l" marL="656216" indent="-328108" lvl="1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Sub-category-wise</a:t>
            </a:r>
          </a:p>
          <a:p>
            <a:pPr algn="l" marL="656216" indent="-328108" lvl="1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Region-wise</a:t>
            </a:r>
          </a:p>
          <a:p>
            <a:pPr algn="l">
              <a:lnSpc>
                <a:spcPts val="531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93300" y="5562777"/>
            <a:ext cx="7596075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Category-wise Loss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3125" y="6195888"/>
            <a:ext cx="8122907" cy="398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216" indent="-328108" lvl="1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Furniture → highest loss</a:t>
            </a:r>
          </a:p>
          <a:p>
            <a:pPr algn="l" marL="656216" indent="-328108" lvl="1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Office Supplies → second</a:t>
            </a:r>
          </a:p>
          <a:p>
            <a:pPr algn="l" marL="656216" indent="-328108" lvl="1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Technology → least loss</a:t>
            </a:r>
          </a:p>
          <a:p>
            <a:pPr algn="l">
              <a:lnSpc>
                <a:spcPts val="5319"/>
              </a:lnSpc>
            </a:pPr>
            <a:r>
              <a:rPr lang="en-US" sz="3039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Furniture is the most problematic category.</a:t>
            </a:r>
          </a:p>
          <a:p>
            <a:pPr algn="l">
              <a:lnSpc>
                <a:spcPts val="531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929068" y="1019175"/>
            <a:ext cx="7596075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Sub-Category Loss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65093" y="1584083"/>
            <a:ext cx="8122907" cy="398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039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Loss-making products:</a:t>
            </a:r>
          </a:p>
          <a:p>
            <a:pPr algn="l" marL="656216" indent="-328108" lvl="1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Tables → highest loss</a:t>
            </a:r>
          </a:p>
          <a:p>
            <a:pPr algn="l" marL="656216" indent="-328108" lvl="1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Book</a:t>
            </a: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cases</a:t>
            </a:r>
          </a:p>
          <a:p>
            <a:pPr algn="l" marL="656216" indent="-328108" lvl="1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Supplies</a:t>
            </a:r>
          </a:p>
          <a:p>
            <a:pPr algn="l">
              <a:lnSpc>
                <a:spcPts val="5319"/>
              </a:lnSpc>
            </a:pPr>
            <a:r>
              <a:rPr lang="en-US" sz="3039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Tables are the main loss driver.</a:t>
            </a:r>
          </a:p>
          <a:p>
            <a:pPr algn="l">
              <a:lnSpc>
                <a:spcPts val="53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929068" y="5562777"/>
            <a:ext cx="7596075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Region-wise Loss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55568" y="6253038"/>
            <a:ext cx="8122907" cy="332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216" indent="-328108" lvl="1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Central → highest loss</a:t>
            </a:r>
          </a:p>
          <a:p>
            <a:pPr algn="l" marL="656216" indent="-328108" lvl="1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</a:t>
            </a: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ast → second</a:t>
            </a:r>
          </a:p>
          <a:p>
            <a:pPr algn="l" marL="656216" indent="-328108" lvl="1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South &amp; West → lower</a:t>
            </a:r>
          </a:p>
          <a:p>
            <a:pPr algn="l">
              <a:lnSpc>
                <a:spcPts val="5319"/>
              </a:lnSpc>
            </a:pPr>
            <a:r>
              <a:rPr lang="en-US" sz="3039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Central region needs improvement</a:t>
            </a:r>
          </a:p>
          <a:p>
            <a:pPr algn="l">
              <a:lnSpc>
                <a:spcPts val="531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51049" y="2244973"/>
            <a:ext cx="7542540" cy="5797053"/>
          </a:xfrm>
          <a:custGeom>
            <a:avLst/>
            <a:gdLst/>
            <a:ahLst/>
            <a:cxnLst/>
            <a:rect r="r" b="b" t="t" l="l"/>
            <a:pathLst>
              <a:path h="5797053" w="7542540">
                <a:moveTo>
                  <a:pt x="0" y="0"/>
                </a:moveTo>
                <a:lnTo>
                  <a:pt x="7542540" y="0"/>
                </a:lnTo>
                <a:lnTo>
                  <a:pt x="7542540" y="5797054"/>
                </a:lnTo>
                <a:lnTo>
                  <a:pt x="0" y="57970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67712" y="341017"/>
            <a:ext cx="6352576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Discount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8766" y="2083048"/>
            <a:ext cx="4132308" cy="6395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0.10% -29.2744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0.15% -328.7030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0.20% -17258.0654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0.30% -10777.6879 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0.32% -2391.1377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0.40% -25787.8268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0.45% -2493.1111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0.50% -20506.4281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0.60% -5944.6552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0.70% -40075.3569 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0.80% -30539.0392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64620" y="3040540"/>
            <a:ext cx="5330590" cy="4625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5"/>
              </a:lnSpc>
            </a:pPr>
            <a:r>
              <a:rPr lang="en-US" sz="2654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Key Finding:</a:t>
            </a:r>
          </a:p>
          <a:p>
            <a:pPr algn="l" marL="573108" indent="-286554" lvl="1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Higher discount → higher loss</a:t>
            </a:r>
          </a:p>
          <a:p>
            <a:pPr algn="l" marL="573108" indent="-286554" lvl="1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Max loss occurs at 60–80% discount range</a:t>
            </a:r>
          </a:p>
          <a:p>
            <a:pPr algn="l">
              <a:lnSpc>
                <a:spcPts val="4645"/>
              </a:lnSpc>
            </a:pPr>
            <a:r>
              <a:rPr lang="en-US" sz="2654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Discounts are the main reason for losses</a:t>
            </a:r>
          </a:p>
          <a:p>
            <a:pPr algn="l">
              <a:lnSpc>
                <a:spcPts val="464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7623" y="667287"/>
            <a:ext cx="6352576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Profit Margin (KPI)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8616" y="1442557"/>
            <a:ext cx="5841583" cy="578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5"/>
              </a:lnSpc>
            </a:pPr>
            <a:r>
              <a:rPr lang="en-US" sz="2654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Formula: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 Profit Margin = Profit / Sales</a:t>
            </a:r>
          </a:p>
          <a:p>
            <a:pPr algn="l">
              <a:lnSpc>
                <a:spcPts val="4645"/>
              </a:lnSpc>
            </a:pPr>
          </a:p>
          <a:p>
            <a:pPr algn="l">
              <a:lnSpc>
                <a:spcPts val="4645"/>
              </a:lnSpc>
            </a:pPr>
            <a:r>
              <a:rPr lang="en-US" sz="2654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Results:</a:t>
            </a:r>
          </a:p>
          <a:p>
            <a:pPr algn="l" marL="573108" indent="-286554" lvl="1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Technology → ~24% (best)</a:t>
            </a:r>
          </a:p>
          <a:p>
            <a:pPr algn="l" marL="573108" indent="-286554" lvl="1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Office Supplies → ~15%</a:t>
            </a:r>
          </a:p>
          <a:p>
            <a:pPr algn="l" marL="573108" indent="-286554" lvl="1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Furniture → ~5% (worst)</a:t>
            </a:r>
          </a:p>
          <a:p>
            <a:pPr algn="l">
              <a:lnSpc>
                <a:spcPts val="4645"/>
              </a:lnSpc>
            </a:pPr>
          </a:p>
          <a:p>
            <a:pPr algn="l">
              <a:lnSpc>
                <a:spcPts val="4645"/>
              </a:lnSpc>
            </a:pPr>
            <a:r>
              <a:rPr lang="en-US" sz="2654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Furniture is inefficient despite sales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46248" y="667287"/>
            <a:ext cx="8053034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Top Performing Products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1442557"/>
            <a:ext cx="6836382" cy="404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5"/>
              </a:lnSpc>
            </a:pPr>
            <a:r>
              <a:rPr lang="en-US" sz="2654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Highest Profit Generators:</a:t>
            </a:r>
          </a:p>
          <a:p>
            <a:pPr algn="l" marL="573108" indent="-286554" lvl="1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Copiers</a:t>
            </a:r>
          </a:p>
          <a:p>
            <a:pPr algn="l" marL="573108" indent="-286554" lvl="1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Phones</a:t>
            </a:r>
          </a:p>
          <a:p>
            <a:pPr algn="l" marL="573108" indent="-286554" lvl="1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</a:t>
            </a: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ccessories</a:t>
            </a:r>
          </a:p>
          <a:p>
            <a:pPr algn="l" marL="573108" indent="-286554" lvl="1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Pap</a:t>
            </a: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er</a:t>
            </a:r>
          </a:p>
          <a:p>
            <a:pPr algn="l">
              <a:lnSpc>
                <a:spcPts val="4645"/>
              </a:lnSpc>
            </a:pPr>
            <a:r>
              <a:rPr lang="en-US" sz="2654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These are business strengths</a:t>
            </a:r>
          </a:p>
          <a:p>
            <a:pPr algn="l">
              <a:lnSpc>
                <a:spcPts val="464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946248" y="5505601"/>
            <a:ext cx="8053034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Worst Performing Products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6214197"/>
            <a:ext cx="6836382" cy="346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5"/>
              </a:lnSpc>
            </a:pPr>
            <a:r>
              <a:rPr lang="en-US" sz="2654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Loss Makers:</a:t>
            </a:r>
          </a:p>
          <a:p>
            <a:pPr algn="l" marL="573108" indent="-286554" lvl="1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Tables</a:t>
            </a:r>
          </a:p>
          <a:p>
            <a:pPr algn="l" marL="573108" indent="-286554" lvl="1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Bo</a:t>
            </a: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okcases</a:t>
            </a:r>
          </a:p>
          <a:p>
            <a:pPr algn="l" marL="573108" indent="-286554" lvl="1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Suppli</a:t>
            </a: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es</a:t>
            </a:r>
          </a:p>
          <a:p>
            <a:pPr algn="l">
              <a:lnSpc>
                <a:spcPts val="4645"/>
              </a:lnSpc>
            </a:pPr>
            <a:r>
              <a:rPr lang="en-US" sz="2654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These require immediate action</a:t>
            </a:r>
          </a:p>
          <a:p>
            <a:pPr algn="l">
              <a:lnSpc>
                <a:spcPts val="4645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8675" y="882381"/>
            <a:ext cx="10215211" cy="698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7"/>
              </a:lnSpc>
            </a:pPr>
            <a:r>
              <a:rPr lang="en-US" sz="45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Key </a:t>
            </a:r>
            <a:r>
              <a:rPr lang="en-US" sz="45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Insights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2692" y="1637606"/>
            <a:ext cx="7257679" cy="335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b="true" sz="2556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High disco</a:t>
            </a:r>
            <a:r>
              <a:rPr lang="en-US" b="true" sz="2556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unts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 → major cause of loss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b="true" sz="2556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Furniture 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→ lowest profit margin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b="true" sz="2556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Tables 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→ biggest loss contributor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b="true" sz="2556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Technology 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→ most prof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itable category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b="true" sz="2556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Sales ≠ Profit</a:t>
            </a:r>
          </a:p>
          <a:p>
            <a:pPr algn="l">
              <a:lnSpc>
                <a:spcPts val="447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09842" y="5321557"/>
            <a:ext cx="8903884" cy="68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Business Recomme</a:t>
            </a:r>
            <a:r>
              <a:rPr lang="en-US" sz="44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ndations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1009" y="6065272"/>
            <a:ext cx="7257679" cy="4478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2556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Actions: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Reduce disco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unts above 20%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Re-evaluate pricing of Tables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Focus on high-margin products (Technology)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Improve performance 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in Central region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Avoid low-margin bulk s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ales</a:t>
            </a:r>
          </a:p>
          <a:p>
            <a:pPr algn="l">
              <a:lnSpc>
                <a:spcPts val="447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05581" y="941516"/>
            <a:ext cx="10215211" cy="727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0"/>
              </a:lnSpc>
            </a:pPr>
            <a:r>
              <a:rPr lang="en-US" sz="46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Co</a:t>
            </a:r>
            <a:r>
              <a:rPr lang="en-US" sz="46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29598" y="1788547"/>
            <a:ext cx="7257679" cy="335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Identified key loss drivers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nalyzed root causes (discount impact)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Suggested actionable improvements</a:t>
            </a:r>
          </a:p>
          <a:p>
            <a:pPr algn="l">
              <a:lnSpc>
                <a:spcPts val="4473"/>
              </a:lnSpc>
            </a:pPr>
            <a:r>
              <a:rPr lang="en-US" sz="2556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Data-driven decisions can significantly improve prof</a:t>
            </a:r>
            <a:r>
              <a:rPr lang="en-US" sz="2556" b="true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itability</a:t>
            </a:r>
          </a:p>
          <a:p>
            <a:pPr algn="l">
              <a:lnSpc>
                <a:spcPts val="447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29598" y="5312032"/>
            <a:ext cx="10215211" cy="727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0"/>
              </a:lnSpc>
            </a:pPr>
            <a:r>
              <a:rPr lang="en-US" sz="46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Fut</a:t>
            </a:r>
            <a:r>
              <a:rPr lang="en-US" sz="4699" b="true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ure Scope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53616" y="6159063"/>
            <a:ext cx="7257679" cy="335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Build interactive dashboard (Streamlit / Power BI)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App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ly machine learning for profit prediction</a:t>
            </a:r>
          </a:p>
          <a:p>
            <a:pPr algn="l" marL="551895" indent="-275948" lvl="1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Customer segment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ation analy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</a:t>
            </a:r>
          </a:p>
          <a:p>
            <a:pPr algn="l">
              <a:lnSpc>
                <a:spcPts val="4473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1818284">
            <a:off x="16215886" y="4572544"/>
            <a:ext cx="3194203" cy="7569921"/>
            <a:chOff x="0" y="0"/>
            <a:chExt cx="841272" cy="19937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1272" cy="1993724"/>
            </a:xfrm>
            <a:custGeom>
              <a:avLst/>
              <a:gdLst/>
              <a:ahLst/>
              <a:cxnLst/>
              <a:rect r="r" b="b" t="t" l="l"/>
              <a:pathLst>
                <a:path h="1993724" w="841272">
                  <a:moveTo>
                    <a:pt x="0" y="0"/>
                  </a:moveTo>
                  <a:lnTo>
                    <a:pt x="841272" y="0"/>
                  </a:lnTo>
                  <a:lnTo>
                    <a:pt x="841272" y="1993724"/>
                  </a:lnTo>
                  <a:lnTo>
                    <a:pt x="0" y="1993724"/>
                  </a:lnTo>
                  <a:close/>
                </a:path>
              </a:pathLst>
            </a:custGeom>
            <a:gradFill rotWithShape="true">
              <a:gsLst>
                <a:gs pos="0">
                  <a:srgbClr val="8D7704">
                    <a:alpha val="100000"/>
                  </a:srgbClr>
                </a:gs>
                <a:gs pos="50000">
                  <a:srgbClr val="C42705">
                    <a:alpha val="100000"/>
                  </a:srgbClr>
                </a:gs>
                <a:gs pos="100000">
                  <a:srgbClr val="C4056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41272" cy="2050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426725" y="5090729"/>
            <a:ext cx="11434551" cy="921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sz="5878" spc="1722" b="true">
                <a:solidFill>
                  <a:srgbClr val="121212"/>
                </a:solidFill>
                <a:latin typeface="Poppins 2 Semi-Bold"/>
                <a:ea typeface="Poppins 2 Semi-Bold"/>
                <a:cs typeface="Poppins 2 Semi-Bold"/>
                <a:sym typeface="Poppins 2 Semi-Bold"/>
              </a:rPr>
              <a:t>For Your Attention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29104" y="2896012"/>
            <a:ext cx="11432171" cy="244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3"/>
              </a:lnSpc>
            </a:pPr>
            <a:r>
              <a:rPr lang="en-US" sz="15594" b="true">
                <a:gradFill>
                  <a:gsLst>
                    <a:gs pos="0">
                      <a:srgbClr val="8D7704">
                        <a:alpha val="100000"/>
                      </a:srgbClr>
                    </a:gs>
                    <a:gs pos="50000">
                      <a:srgbClr val="C42705">
                        <a:alpha val="100000"/>
                      </a:srgbClr>
                    </a:gs>
                    <a:gs pos="100000">
                      <a:srgbClr val="C4056C">
                        <a:alpha val="100000"/>
                      </a:srgbClr>
                    </a:gs>
                  </a:gsLst>
                  <a:lin ang="2700000"/>
                </a:gradFill>
                <a:latin typeface="Poppins 2 Semi-Bold"/>
                <a:ea typeface="Poppins 2 Semi-Bold"/>
                <a:cs typeface="Poppins 2 Semi-Bold"/>
                <a:sym typeface="Poppins 2 Semi-Bold"/>
              </a:rPr>
              <a:t>Thank You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2459526" y="433243"/>
            <a:ext cx="8660728" cy="1098087"/>
            <a:chOff x="0" y="0"/>
            <a:chExt cx="4666826" cy="5917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66826" cy="591703"/>
            </a:xfrm>
            <a:custGeom>
              <a:avLst/>
              <a:gdLst/>
              <a:ahLst/>
              <a:cxnLst/>
              <a:rect r="r" b="b" t="t" l="l"/>
              <a:pathLst>
                <a:path h="591703" w="4666826">
                  <a:moveTo>
                    <a:pt x="203200" y="0"/>
                  </a:moveTo>
                  <a:lnTo>
                    <a:pt x="4666826" y="0"/>
                  </a:lnTo>
                  <a:lnTo>
                    <a:pt x="4463626" y="591703"/>
                  </a:lnTo>
                  <a:lnTo>
                    <a:pt x="0" y="59170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8D7704">
                    <a:alpha val="100000"/>
                  </a:srgbClr>
                </a:gs>
                <a:gs pos="50000">
                  <a:srgbClr val="C42705">
                    <a:alpha val="100000"/>
                  </a:srgbClr>
                </a:gs>
                <a:gs pos="100000">
                  <a:srgbClr val="C4056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57150"/>
              <a:ext cx="4463626" cy="648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66503" y="568293"/>
            <a:ext cx="4884038" cy="76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59"/>
              </a:lnSpc>
            </a:pPr>
            <a:r>
              <a:rPr lang="en-US" b="true" sz="4921">
                <a:solidFill>
                  <a:srgbClr val="FFFFFF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Team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22057" y="6559010"/>
            <a:ext cx="14243886" cy="110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3"/>
              </a:lnSpc>
            </a:pPr>
            <a:r>
              <a:rPr lang="en-US" b="true" sz="2556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This project demonstrates how data analysis can identif</a:t>
            </a:r>
            <a:r>
              <a:rPr lang="en-US" b="true" sz="2556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y business problems and provide actionable strategies to improve profitability.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DAHFoebm8vc</dc:identifier>
  <dcterms:modified xsi:type="dcterms:W3CDTF">2011-08-01T06:04:30Z</dcterms:modified>
  <cp:revision>1</cp:revision>
  <dc:title>Copy of Copy of Purple And White Modern Effective Communication Presentation</dc:title>
</cp:coreProperties>
</file>